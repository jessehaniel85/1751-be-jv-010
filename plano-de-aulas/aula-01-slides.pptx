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de Software e Ágil 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EmbarqueTI · Nível III · Apresentação do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Metodologia Ada</a:t>
            </a:r>
          </a:p>
          <a:p>
            <a:r>
              <a:t>Conteúdo do módulo</a:t>
            </a:r>
          </a:p>
          <a:p>
            <a:r>
              <a:t>Cronograma (9 encontros)</a:t>
            </a:r>
          </a:p>
          <a:p>
            <a:r>
              <a:t>Os dois projetos</a:t>
            </a:r>
          </a:p>
          <a:p>
            <a:r>
              <a:t>Avaliação e rubrica</a:t>
            </a:r>
          </a:p>
          <a:p>
            <a:r>
              <a:t>IA &amp; agentes: por que entram aqui</a:t>
            </a:r>
          </a:p>
          <a:p>
            <a:r>
              <a:t>Combinados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Aprendizagem ativa: PBL + Sala de Aula Invertida (adaptada)</a:t>
            </a:r>
          </a:p>
          <a:p>
            <a:r>
              <a:t>1ª metade: problema → discussão → solução ao vivo</a:t>
            </a:r>
          </a:p>
          <a:p>
            <a:r>
              <a:t>2ª metade: você evolui a solução + trabalha no projeto em grupo</a:t>
            </a:r>
          </a:p>
          <a:p>
            <a:pPr lvl="1"/>
            <a:r>
              <a:t>Estudo e projeto acontecem DENTRO da aula</a:t>
            </a:r>
          </a:p>
          <a:p>
            <a:r>
              <a:t>Debate de alto nível + ponte com o legado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 do módulo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Microsserviços e DDD (fronteiras de domínio)</a:t>
            </a:r>
          </a:p>
          <a:p>
            <a:r>
              <a:t>Consistência distribuída e padrão SAGA</a:t>
            </a:r>
          </a:p>
          <a:p>
            <a:r>
              <a:t>Cache compartilhado (Redis)</a:t>
            </a:r>
          </a:p>
          <a:p>
            <a:r>
              <a:t>Mensageria: filas (RabbitMQ) e tópicos (Kafka)</a:t>
            </a:r>
          </a:p>
          <a:p>
            <a:r>
              <a:t>Resiliência: retry, circuit breaker, DLQ</a:t>
            </a:r>
          </a:p>
          <a:p>
            <a:r>
              <a:t>Contract testing (PACT)</a:t>
            </a:r>
          </a:p>
          <a:p>
            <a:pPr lvl="1"/>
            <a:r>
              <a:t>Fio transversal: IA &amp; agentes em cada tema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09/09 Abertura + DDD e fronteiras</a:t>
            </a:r>
          </a:p>
          <a:p>
            <a:r>
              <a:t>11/09 DDD na prática + SAGA</a:t>
            </a:r>
          </a:p>
          <a:p>
            <a:r>
              <a:t>14/09 Comunicação entre microsserviços</a:t>
            </a:r>
          </a:p>
          <a:p>
            <a:r>
              <a:t>16/09 Cache com Redis</a:t>
            </a:r>
          </a:p>
          <a:p>
            <a:r>
              <a:t>18/09 Comunicação assíncrona (producer/consumer)</a:t>
            </a:r>
          </a:p>
          <a:p>
            <a:r>
              <a:t>21/09 Filas com RabbitMQ + DLQ</a:t>
            </a:r>
          </a:p>
          <a:p>
            <a:r>
              <a:t>23/09 Tópicos/eventos com Kafka</a:t>
            </a:r>
          </a:p>
          <a:p>
            <a:r>
              <a:t>25/09 Resiliência + Contract testing (PACT)</a:t>
            </a:r>
          </a:p>
          <a:p>
            <a:r>
              <a:t>28/09 Bancas dos projetos + devolutiva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guiado (em aula)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 de Comprovantes PIX</a:t>
            </a:r>
          </a:p>
          <a:p>
            <a:r>
              <a:t>Construída ao vivo, incremento a cada aula</a:t>
            </a:r>
          </a:p>
          <a:p>
            <a:r>
              <a:t>POST → 202 → fila → gravação; consulta com cache + fallback</a:t>
            </a:r>
          </a:p>
          <a:p>
            <a:pPr lvl="1"/>
            <a:r>
              <a:t>É a referência dos padrões — não é avaliado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final (em grupo)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Tema de LIVRE escolha do grupo</a:t>
            </a:r>
          </a:p>
          <a:p>
            <a:r>
              <a:t>O que amarra são os CRITÉRIOS de avaliação, não o tema</a:t>
            </a:r>
          </a:p>
          <a:p>
            <a:r>
              <a:t>Grupos de 3 a 5 (sugestão); escopo escala com o tamanho</a:t>
            </a:r>
          </a:p>
          <a:p>
            <a:r>
              <a:t>Desenvolvido na 2ª metade das aulas; defesa na banca (28/09)</a:t>
            </a:r>
          </a:p>
          <a:p>
            <a:pPr lvl="1"/>
            <a:r>
              <a:t>Formem os grupos até a próxima aula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e rubrica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Rubrica de 9 critérios (decomposição, async, cache, resiliência, testes, decisões...)</a:t>
            </a:r>
          </a:p>
          <a:p>
            <a:r>
              <a:t>Avalia DOMÍNIO do padrão e DECISÃO arquitetural — não a infra disponível</a:t>
            </a:r>
          </a:p>
          <a:p>
            <a:r>
              <a:t>Banca de defesa + auto-avaliação</a:t>
            </a:r>
          </a:p>
          <a:p>
            <a:r>
              <a:t>Listas de exercícios e participação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Avalie a satisfação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 aula é possível (e muito importante!) avaliar no LMS</a:t>
            </a:r>
          </a:p>
          <a:p>
            <a:r>
              <a:t>Seu NPS orienta os ajustes da próxima aula</a:t>
            </a:r>
          </a:p>
          <a:p>
            <a:r>
              <a:t>Meta de excelência Ada: 90+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&amp; agentes: por que entram aqui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módulo é de 2024; a realidade de quem opera esses sistemas mudou</a:t>
            </a:r>
          </a:p>
          <a:p>
            <a:r>
              <a:t>Cada padrão clássico tem um paralelo direto com IA/agentes</a:t>
            </a:r>
          </a:p>
          <a:p>
            <a:pPr lvl="1"/>
            <a:r>
              <a:t>Bounded context = fronteira de agente; SAGA = agentic workflow</a:t>
            </a:r>
          </a:p>
          <a:p>
            <a:pPr lvl="1"/>
            <a:r>
              <a:t>Cache = semantic caching/RAG; tópicos = memória de agente</a:t>
            </a:r>
          </a:p>
          <a:p>
            <a:r>
              <a:t>Não é hype: sempre ancorado no padrão de engenharia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Início, intervalo e término (acordar horários da turma)</a:t>
            </a:r>
          </a:p>
          <a:p>
            <a:r>
              <a:t>Estar online ≠ estar presente — câmera e participação contam</a:t>
            </a:r>
          </a:p>
          <a:p>
            <a:r>
              <a:t>Ambiente: tudo via Nexus corporativo; sem depender de Docker/sites externos</a:t>
            </a:r>
          </a:p>
          <a:p>
            <a:r>
              <a:t>Dúvidas são bem-vindas durante o live coding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DDD: a ferramenta para decidir ONDE cortar o sistema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do corte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Cortar no lugar errado = monólito distribuído (o pior dos dois mundos)</a:t>
            </a:r>
          </a:p>
          <a:p>
            <a:r>
              <a:t>A pergunta certa não é 'em quantos serviços eu divido?'</a:t>
            </a:r>
          </a:p>
          <a:p>
            <a:r>
              <a:t>É 'quais fronteiras mudam por razões e ritmos diferentes?'</a:t>
            </a:r>
          </a:p>
          <a:p>
            <a:r>
              <a:t>Decisão de DOMÍNIO, não de tecnologia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DDD em dois níveis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Estratégico — ONDE estão as fronteiras (viram microsserviços)</a:t>
            </a:r>
          </a:p>
          <a:p>
            <a:pPr lvl="1"/>
            <a:r>
              <a:t>domínio, subdomínios, linguagem ubíqua, bounded context, event storming</a:t>
            </a:r>
          </a:p>
          <a:p>
            <a:r>
              <a:t>Tático — COMO modelar dentro de cada fronteira</a:t>
            </a:r>
          </a:p>
          <a:p>
            <a:pPr lvl="1"/>
            <a:r>
              <a:t>entidades, value objects, agregados</a:t>
            </a:r>
          </a:p>
          <a:p>
            <a:r>
              <a:t>Não é arquitetura em camadas; não é framework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Blocos táticos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Entidade — tem identidade e ciclo de vida (ex.: Comprovante, por id)</a:t>
            </a:r>
          </a:p>
          <a:p>
            <a:r>
              <a:t>Value Object — imutável, igualdade por valor (ex.: ChavePix, Dinheiro)</a:t>
            </a:r>
          </a:p>
          <a:p>
            <a:r>
              <a:t>Agregado + raiz — cluster que muda junto e guarda a invariante</a:t>
            </a:r>
          </a:p>
          <a:p>
            <a:pPr lvl="1"/>
            <a:r>
              <a:t>1 transação = 1 agregado; referência entre agregados por id</a:t>
            </a:r>
          </a:p>
          <a:p>
            <a:r>
              <a:t>Regra de ouro: o agregado NUNCA atravessa fronteira de serviço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 Context &amp; Context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Mesmo termo, significados diferentes por contexto (o 'Cliente' de cada área)</a:t>
            </a:r>
          </a:p>
          <a:p>
            <a:r>
              <a:t>Bounded context = fronteira do modelo e da linguagem ubíqua</a:t>
            </a:r>
          </a:p>
          <a:p>
            <a:r>
              <a:t>1 contexto → 1 ou mais microsserviços (nunca o contrário)</a:t>
            </a:r>
          </a:p>
          <a:p>
            <a:r>
              <a:t>Context map: customer/supplier, conformist, ACL, OHS/published language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Storming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Oficina com post-its: negócio + técnicos modelam o fluxo juntos</a:t>
            </a:r>
          </a:p>
          <a:p>
            <a:r>
              <a:t>🟧 evento · 🟦 comando · 🟨 agregado · 🟪 política · 🧍 ator · 🟥 hotspot</a:t>
            </a:r>
          </a:p>
          <a:p>
            <a:r>
              <a:t>Eventos → comandos/atores → agregados → políticas → contextos</a:t>
            </a:r>
          </a:p>
          <a:p>
            <a:pPr lvl="1"/>
            <a:r>
              <a:t>Políticas viram mensageria; hotspots viram requisitos de resiliência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Dois cenários (no material do aluno)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1) Comprovantes PIX — do relato do negócio aos microsserviços, ao vivo</a:t>
            </a:r>
          </a:p>
          <a:p>
            <a:r>
              <a:t>2) Fatura de cartão — invariante 'soma dos lançamentos = total'</a:t>
            </a:r>
          </a:p>
          <a:p>
            <a:r>
              <a:t>Mesmo método; consistência FORTE dentro do agregado, EVENTUAL entre contextos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Microsserviço não é tamanho de código — é fronteira de domínio com dono.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